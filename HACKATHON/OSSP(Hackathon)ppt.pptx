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64" r:id="rId5"/>
    <p:sldId id="269" r:id="rId6"/>
    <p:sldId id="270" r:id="rId7"/>
    <p:sldId id="259" r:id="rId8"/>
    <p:sldId id="266" r:id="rId9"/>
    <p:sldId id="271" r:id="rId10"/>
    <p:sldId id="275" r:id="rId11"/>
    <p:sldId id="276" r:id="rId12"/>
    <p:sldId id="274" r:id="rId13"/>
    <p:sldId id="272" r:id="rId14"/>
    <p:sldId id="273" r:id="rId15"/>
    <p:sldId id="268"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3" d="100"/>
          <a:sy n="83" d="100"/>
        </p:scale>
        <p:origin x="61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jpeg"/><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2">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7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7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image" Target="../media/image4.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61820" y="652145"/>
            <a:ext cx="9144000" cy="2316480"/>
          </a:xfrm>
        </p:spPr>
        <p:txBody>
          <a:bodyPr/>
          <a:lstStyle/>
          <a:p>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sz="4000" b="1" dirty="0">
                <a:solidFill>
                  <a:srgbClr val="C00000"/>
                </a:solidFill>
                <a:latin typeface="+mn-lt"/>
              </a:rPr>
            </a:br>
            <a:r>
              <a:rPr lang="en-US" sz="4000" b="1" dirty="0">
                <a:solidFill>
                  <a:srgbClr val="C00000"/>
                </a:solidFill>
                <a:latin typeface="+mn-lt"/>
              </a:rPr>
              <a:t>Operating system and system programming</a:t>
            </a:r>
            <a:r>
              <a:rPr lang="en-US" sz="4000" b="1" dirty="0" smtClean="0">
                <a:solidFill>
                  <a:srgbClr val="C00000"/>
                </a:solidFill>
                <a:latin typeface="+mn-lt"/>
              </a:rPr>
              <a:t> (25CS2104E)</a:t>
            </a:r>
            <a:br>
              <a:rPr lang="en-US" sz="4000" b="1" dirty="0">
                <a:solidFill>
                  <a:srgbClr val="C00000"/>
                </a:solidFill>
                <a:latin typeface="+mn-lt"/>
              </a:rPr>
            </a:br>
            <a:br>
              <a:rPr lang="en-US" sz="4000" b="1" dirty="0">
                <a:solidFill>
                  <a:srgbClr val="C00000"/>
                </a:solidFill>
                <a:latin typeface="+mn-lt"/>
              </a:rPr>
            </a:br>
            <a:r>
              <a:rPr lang="en-US" altLang="en-US" sz="3200" b="1" dirty="0">
                <a:solidFill>
                  <a:srgbClr val="C00000"/>
                </a:solidFill>
                <a:latin typeface="+mn-lt"/>
              </a:rPr>
              <a:t>Multi-Process Task Manager for Linux</a:t>
            </a:r>
            <a:endParaRPr lang="en-US" altLang="en-US" sz="3200" b="1" dirty="0">
              <a:solidFill>
                <a:srgbClr val="C00000"/>
              </a:solidFill>
              <a:latin typeface="+mn-lt"/>
            </a:endParaRPr>
          </a:p>
        </p:txBody>
      </p:sp>
      <p:sp>
        <p:nvSpPr>
          <p:cNvPr id="3" name="Subtitle 2"/>
          <p:cNvSpPr>
            <a:spLocks noGrp="1"/>
          </p:cNvSpPr>
          <p:nvPr>
            <p:ph type="subTitle" idx="1"/>
          </p:nvPr>
        </p:nvSpPr>
        <p:spPr>
          <a:xfrm>
            <a:off x="4059555" y="3054350"/>
            <a:ext cx="5384800" cy="1913890"/>
          </a:xfrm>
        </p:spPr>
        <p:txBody>
          <a:bodyPr/>
          <a:lstStyle/>
          <a:p>
            <a:r>
              <a:rPr lang="en-US" dirty="0">
                <a:solidFill>
                  <a:srgbClr val="002060"/>
                </a:solidFill>
              </a:rPr>
              <a:t>Team Members:</a:t>
            </a:r>
            <a:endParaRPr lang="en-US" dirty="0">
              <a:solidFill>
                <a:srgbClr val="002060"/>
              </a:solidFill>
            </a:endParaRPr>
          </a:p>
          <a:p>
            <a:r>
              <a:rPr lang="en-US" dirty="0">
                <a:solidFill>
                  <a:srgbClr val="002060"/>
                </a:solidFill>
              </a:rPr>
              <a:t>R.Vishnu Vardhan     -      2520090166</a:t>
            </a:r>
            <a:endParaRPr lang="en-US" dirty="0">
              <a:solidFill>
                <a:srgbClr val="002060"/>
              </a:solidFill>
            </a:endParaRPr>
          </a:p>
          <a:p>
            <a:r>
              <a:rPr lang="en-US" dirty="0">
                <a:solidFill>
                  <a:srgbClr val="002060"/>
                </a:solidFill>
              </a:rPr>
              <a:t>K. Amruthavalli         -      2520090070</a:t>
            </a:r>
            <a:endParaRPr lang="en-US" dirty="0">
              <a:solidFill>
                <a:srgbClr val="002060"/>
              </a:solidFill>
            </a:endParaRPr>
          </a:p>
          <a:p>
            <a:r>
              <a:rPr lang="en-US" dirty="0">
                <a:solidFill>
                  <a:srgbClr val="002060"/>
                </a:solidFill>
              </a:rPr>
              <a:t>N. Divya Sree           -      2520090031</a:t>
            </a:r>
            <a:endParaRPr lang="en-US" dirty="0">
              <a:solidFill>
                <a:srgbClr val="002060"/>
              </a:solidFill>
            </a:endParaRPr>
          </a:p>
          <a:p>
            <a:endPar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endParaRPr>
          </a:p>
          <a:p>
            <a:pPr marL="171450" algn="ctr">
              <a:lnSpc>
                <a:spcPct val="107000"/>
              </a:lnSpc>
              <a:spcAft>
                <a:spcPts val="800"/>
              </a:spcAft>
            </a:pPr>
            <a:r>
              <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Under the Esteemed Guidance of</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r>
              <a:rPr lang="en-US" sz="2200" b="1" dirty="0">
                <a:solidFill>
                  <a:schemeClr val="tx1"/>
                </a:solidFill>
              </a:rPr>
              <a:t>Raghupathi M</a:t>
            </a:r>
            <a:endParaRPr lang="en-US" sz="2200" b="1" dirty="0">
              <a:solidFill>
                <a:schemeClr val="tx1"/>
              </a:solidFill>
            </a:endParaRPr>
          </a:p>
          <a:p>
            <a:r>
              <a:rPr lang="en-US" b="1" dirty="0">
                <a:solidFill>
                  <a:schemeClr val="tx1"/>
                </a:solidFill>
              </a:rPr>
              <a:t>CSE Department</a:t>
            </a:r>
            <a:endParaRPr lang="en-US" dirty="0">
              <a:solidFill>
                <a:schemeClr val="tx1"/>
              </a:solidFill>
            </a:endParaRPr>
          </a:p>
          <a:p>
            <a:endParaRPr lang="en-US" b="1"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917190" y="983615"/>
            <a:ext cx="6708775" cy="5281930"/>
          </a:xfrm>
          <a:prstGeom prst="rect">
            <a:avLst/>
          </a:prstGeom>
          <a:noFill/>
        </p:spPr>
        <p:txBody>
          <a:bodyPr wrap="square" rtlCol="0">
            <a:noAutofit/>
          </a:bodyPr>
          <a:lstStyle/>
          <a:p>
            <a:pPr marL="457200" indent="-457200" algn="just" rtl="0" eaLnBrk="1" fontAlgn="t" latinLnBrk="0" hangingPunct="1">
              <a:lnSpc>
                <a:spcPct val="150000"/>
              </a:lnSpc>
              <a:spcBef>
                <a:spcPts val="0"/>
              </a:spcBef>
              <a:spcAft>
                <a:spcPts val="0"/>
              </a:spcAft>
              <a:buFont typeface="Arial" panose="020B0704020202020204" pitchFamily="34" charset="0"/>
              <a:buChar char="•"/>
            </a:pPr>
            <a:r>
              <a:rPr lang="en-US" sz="2400" b="0" i="0" u="none" strike="noStrike" kern="1200" dirty="0">
                <a:solidFill>
                  <a:srgbClr val="000000"/>
                </a:solidFill>
                <a:effectLst/>
                <a:latin typeface="Calibri" panose="020F0502020204030204" pitchFamily="34" charset="0"/>
              </a:rPr>
              <a:t>Abstract</a:t>
            </a:r>
            <a:endParaRPr lang="en-US" sz="2400" b="0" i="0" u="none" strike="noStrike" kern="1200" dirty="0">
              <a:solidFill>
                <a:srgbClr val="000000"/>
              </a:solidFill>
              <a:effectLst/>
              <a:latin typeface="Calibri" panose="020F0502020204030204" pitchFamily="34" charset="0"/>
            </a:endParaRPr>
          </a:p>
          <a:p>
            <a:pPr marL="457200" indent="-457200" algn="just" rtl="0" eaLnBrk="1" fontAlgn="t" latinLnBrk="0" hangingPunct="1">
              <a:lnSpc>
                <a:spcPct val="150000"/>
              </a:lnSpc>
              <a:spcBef>
                <a:spcPts val="0"/>
              </a:spcBef>
              <a:spcAft>
                <a:spcPts val="0"/>
              </a:spcAft>
              <a:buFont typeface="Arial" panose="020B0704020202020204" pitchFamily="34" charset="0"/>
              <a:buChar char="•"/>
            </a:pPr>
            <a:r>
              <a:rPr lang="en-US" sz="2400" b="0" i="0" u="none" strike="noStrike" kern="1200" dirty="0">
                <a:solidFill>
                  <a:srgbClr val="000000"/>
                </a:solidFill>
                <a:effectLst/>
                <a:latin typeface="Calibri" panose="020F0502020204030204" pitchFamily="34" charset="0"/>
              </a:rPr>
              <a:t>Introduction</a:t>
            </a:r>
            <a:endParaRPr lang="en-US" sz="2400" b="0" i="0" u="none" strike="noStrike" kern="1200" dirty="0">
              <a:solidFill>
                <a:srgbClr val="000000"/>
              </a:solidFill>
              <a:effectLst/>
              <a:latin typeface="Calibri" panose="020F0502020204030204" pitchFamily="34" charset="0"/>
            </a:endParaRPr>
          </a:p>
          <a:p>
            <a:pPr marL="457200" indent="-457200" algn="just" rtl="0" eaLnBrk="1" fontAlgn="t" latinLnBrk="0" hangingPunct="1">
              <a:lnSpc>
                <a:spcPct val="150000"/>
              </a:lnSpc>
              <a:spcBef>
                <a:spcPts val="0"/>
              </a:spcBef>
              <a:spcAft>
                <a:spcPts val="0"/>
              </a:spcAft>
              <a:buFont typeface="Arial" panose="020B0704020202020204" pitchFamily="34" charset="0"/>
              <a:buChar char="•"/>
            </a:pPr>
            <a:r>
              <a:rPr lang="en-US" altLang="en-US" sz="2400" b="0" i="0" u="none" strike="noStrike" kern="1200" dirty="0">
                <a:solidFill>
                  <a:srgbClr val="000000"/>
                </a:solidFill>
                <a:effectLst/>
                <a:latin typeface="Calibri" panose="020F0502020204030204" pitchFamily="34" charset="0"/>
              </a:rPr>
              <a:t>Problem Statement and Objectives</a:t>
            </a:r>
            <a:endParaRPr lang="en-US" altLang="en-US" sz="2400" b="0" i="0" u="none" strike="noStrike" kern="1200" dirty="0">
              <a:solidFill>
                <a:srgbClr val="000000"/>
              </a:solidFill>
              <a:effectLst/>
              <a:latin typeface="Calibri" panose="020F0502020204030204" pitchFamily="34" charset="0"/>
            </a:endParaRPr>
          </a:p>
          <a:p>
            <a:pPr marL="457200" indent="-457200" algn="just" rtl="0" eaLnBrk="1" fontAlgn="t" latinLnBrk="0" hangingPunct="1">
              <a:lnSpc>
                <a:spcPct val="107000"/>
              </a:lnSpc>
              <a:spcBef>
                <a:spcPts val="0"/>
              </a:spcBef>
              <a:spcAft>
                <a:spcPts val="800"/>
              </a:spcAft>
              <a:buFont typeface="Arial" panose="020B0704020202020204" pitchFamily="34" charset="0"/>
              <a:buChar char="•"/>
            </a:pPr>
            <a:r>
              <a:rPr lang="en-US" sz="24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Hardware and Software requirements</a:t>
            </a:r>
            <a:endParaRPr lang="en-US" sz="24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endParaRPr>
          </a:p>
          <a:p>
            <a:pPr marL="457200" indent="-457200" algn="just" rtl="0" eaLnBrk="1" fontAlgn="t" latinLnBrk="0" hangingPunct="1">
              <a:lnSpc>
                <a:spcPct val="107000"/>
              </a:lnSpc>
              <a:spcBef>
                <a:spcPts val="0"/>
              </a:spcBef>
              <a:spcAft>
                <a:spcPts val="800"/>
              </a:spcAft>
              <a:buFont typeface="Arial" panose="020B0704020202020204" pitchFamily="34" charset="0"/>
              <a:buChar char="•"/>
            </a:pPr>
            <a:r>
              <a:rPr lang="en-US" altLang="en-US" sz="24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System Architecture</a:t>
            </a:r>
            <a:endParaRPr lang="en-US" altLang="en-US" sz="24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endParaRPr>
          </a:p>
          <a:p>
            <a:pPr marL="457200" indent="-457200" algn="just" rtl="0" eaLnBrk="1" fontAlgn="t" latinLnBrk="0" hangingPunct="1">
              <a:lnSpc>
                <a:spcPct val="107000"/>
              </a:lnSpc>
              <a:spcBef>
                <a:spcPts val="0"/>
              </a:spcBef>
              <a:spcAft>
                <a:spcPts val="800"/>
              </a:spcAft>
              <a:buFont typeface="Arial" panose="020B0704020202020204" pitchFamily="34" charset="0"/>
              <a:buChar char="•"/>
            </a:pPr>
            <a:r>
              <a:rPr lang="en-US" altLang="en-US" sz="24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Modules and Key Features</a:t>
            </a:r>
            <a:endParaRPr lang="en-US" altLang="en-US" sz="24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endParaRPr>
          </a:p>
          <a:p>
            <a:pPr marL="457200" indent="-457200" algn="just" rtl="0" eaLnBrk="1" fontAlgn="t" latinLnBrk="0" hangingPunct="1">
              <a:lnSpc>
                <a:spcPct val="107000"/>
              </a:lnSpc>
              <a:spcBef>
                <a:spcPts val="0"/>
              </a:spcBef>
              <a:spcAft>
                <a:spcPts val="800"/>
              </a:spcAft>
              <a:buFont typeface="Arial" panose="020B0704020202020204" pitchFamily="34" charset="0"/>
              <a:buChar char="•"/>
            </a:pPr>
            <a:r>
              <a:rPr lang="en-US" altLang="en-US" sz="24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Implementation and Working</a:t>
            </a:r>
            <a:endParaRPr lang="en-US" altLang="en-US" sz="24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endParaRPr>
          </a:p>
          <a:p>
            <a:pPr marL="457200" indent="-457200" algn="just" rtl="0" eaLnBrk="1" fontAlgn="t" latinLnBrk="0" hangingPunct="1">
              <a:lnSpc>
                <a:spcPct val="107000"/>
              </a:lnSpc>
              <a:spcBef>
                <a:spcPts val="0"/>
              </a:spcBef>
              <a:spcAft>
                <a:spcPts val="800"/>
              </a:spcAft>
              <a:buFont typeface="Arial" panose="020B0704020202020204" pitchFamily="34" charset="0"/>
              <a:buChar char="•"/>
            </a:pPr>
            <a:r>
              <a:rPr lang="en-US" altLang="en-US" sz="24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Sample Output Screenshots</a:t>
            </a:r>
            <a:endParaRPr lang="en-US" altLang="en-US" sz="24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endParaRPr>
          </a:p>
          <a:p>
            <a:pPr marL="457200" indent="-457200" algn="just" rtl="0" eaLnBrk="1" fontAlgn="t" latinLnBrk="0" hangingPunct="1">
              <a:lnSpc>
                <a:spcPct val="107000"/>
              </a:lnSpc>
              <a:spcBef>
                <a:spcPts val="0"/>
              </a:spcBef>
              <a:spcAft>
                <a:spcPts val="800"/>
              </a:spcAft>
              <a:buFont typeface="Arial" panose="020B0704020202020204" pitchFamily="34" charset="0"/>
              <a:buChar char="•"/>
            </a:pPr>
            <a:r>
              <a:rPr lang="en-US" altLang="en-US" sz="24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Testing and Results</a:t>
            </a:r>
            <a:endParaRPr lang="en-US" altLang="en-US" sz="24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endParaRPr>
          </a:p>
          <a:p>
            <a:pPr marL="457200" indent="-457200" algn="just" rtl="0" eaLnBrk="1" fontAlgn="t" latinLnBrk="0" hangingPunct="1">
              <a:lnSpc>
                <a:spcPct val="107000"/>
              </a:lnSpc>
              <a:spcBef>
                <a:spcPts val="0"/>
              </a:spcBef>
              <a:spcAft>
                <a:spcPts val="800"/>
              </a:spcAft>
              <a:buFont typeface="Arial" panose="020B0704020202020204" pitchFamily="34" charset="0"/>
              <a:buChar char="•"/>
            </a:pPr>
            <a:r>
              <a:rPr lang="en-US" altLang="en-US" sz="24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Future Scope</a:t>
            </a:r>
            <a:endParaRPr lang="en-IN" sz="2400" b="0" i="0" u="none" strike="noStrike" dirty="0">
              <a:effectLst/>
              <a:latin typeface="Arial" panose="020B0704020202020204" pitchFamily="34" charset="0"/>
            </a:endParaRPr>
          </a:p>
          <a:p>
            <a:pPr marL="457200" indent="-457200" algn="just" rtl="0" eaLnBrk="1" fontAlgn="t" latinLnBrk="0" hangingPunct="1">
              <a:lnSpc>
                <a:spcPct val="107000"/>
              </a:lnSpc>
              <a:spcBef>
                <a:spcPts val="0"/>
              </a:spcBef>
              <a:spcAft>
                <a:spcPts val="800"/>
              </a:spcAft>
              <a:buFont typeface="Arial" panose="020B0704020202020204" pitchFamily="34" charset="0"/>
              <a:buChar char="•"/>
            </a:pPr>
            <a:r>
              <a:rPr lang="en-US" sz="24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Conclusion </a:t>
            </a:r>
            <a:endParaRPr lang="en-US" sz="24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endParaRPr>
          </a:p>
          <a:p>
            <a:pPr algn="just"/>
            <a:endParaRPr lang="en-IN" sz="2400" dirty="0"/>
          </a:p>
        </p:txBody>
      </p:sp>
      <p:sp>
        <p:nvSpPr>
          <p:cNvPr id="8" name="Rectangle: Rounded Corners 7"/>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Contents</a:t>
            </a:r>
            <a:endParaRPr lang="en-US" sz="3200" b="1" dirty="0">
              <a:solidFill>
                <a:schemeClr val="bg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21970"/>
          </a:xfrm>
          <a:prstGeom prst="rect">
            <a:avLst/>
          </a:prstGeom>
          <a:noFill/>
        </p:spPr>
        <p:txBody>
          <a:bodyPr wrap="square" rtlCol="0">
            <a:spAutoFit/>
          </a:bodyPr>
          <a:lstStyle/>
          <a:p>
            <a:pPr algn="ctr"/>
            <a:r>
              <a:rPr lang="en-US" sz="2800" b="1" dirty="0">
                <a:solidFill>
                  <a:schemeClr val="bg1"/>
                </a:solidFill>
              </a:rPr>
              <a:t>Abstract</a:t>
            </a:r>
            <a:endParaRPr lang="en-US" sz="2800" b="1" dirty="0">
              <a:solidFill>
                <a:schemeClr val="bg1"/>
              </a:solidFill>
            </a:endParaRPr>
          </a:p>
        </p:txBody>
      </p:sp>
      <p:sp>
        <p:nvSpPr>
          <p:cNvPr id="4" name="Text Box 3"/>
          <p:cNvSpPr txBox="1"/>
          <p:nvPr/>
        </p:nvSpPr>
        <p:spPr>
          <a:xfrm>
            <a:off x="2787650" y="1254125"/>
            <a:ext cx="8802370" cy="5174615"/>
          </a:xfrm>
          <a:prstGeom prst="rect">
            <a:avLst/>
          </a:prstGeom>
          <a:noFill/>
        </p:spPr>
        <p:txBody>
          <a:bodyPr wrap="square" rtlCol="0">
            <a:noAutofit/>
          </a:bodyPr>
          <a:p>
            <a:pPr algn="just"/>
            <a:r>
              <a:rPr lang="en-US" altLang="en-US"/>
              <a:t>The Multi-Process Task Manager for Linux is a system-level application designed to simplify the monitoring and management of multiple processes running in a Linux environment. Managing several processes through traditional command-line utilities can be challenging, especially when users need to identify related processes, monitor their resource consumption, and control their execution efficiently.</a:t>
            </a:r>
            <a:endParaRPr lang="en-US" altLang="en-US"/>
          </a:p>
          <a:p>
            <a:pPr algn="just"/>
            <a:endParaRPr lang="en-US" altLang="en-US"/>
          </a:p>
          <a:p>
            <a:pPr algn="just"/>
            <a:r>
              <a:rPr lang="en-US" altLang="en-US"/>
              <a:t>The proposed system provides a centralized interface to view running processes, inspect process details, monitor CPU and memory usage, and perform process-management operations. It aims to improve visibility into parent-child process relationships and make it easier to manage groups of related processes. By utilizing Linux process information and operating-system mechanisms, the application offers a structured approach to process monitoring and control.</a:t>
            </a:r>
            <a:endParaRPr lang="en-US" altLang="en-US"/>
          </a:p>
          <a:p>
            <a:pPr algn="just"/>
            <a:endParaRPr lang="en-US" altLang="en-US"/>
          </a:p>
          <a:p>
            <a:pPr algn="just"/>
            <a:r>
              <a:rPr lang="en-US" altLang="en-US"/>
              <a:t>The project demonstrates practical concepts of operating systems, including process management, process states, process identification, signals, and interaction with the Linux kernel. It can serve as a useful utility for students, developers, and system administrators who need a clearer and more organized way to manage multiple running processes.</a:t>
            </a:r>
            <a:endParaRPr lang="en-US"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Box 7"/>
          <p:cNvSpPr txBox="1"/>
          <p:nvPr/>
        </p:nvSpPr>
        <p:spPr>
          <a:xfrm>
            <a:off x="3973195" y="221615"/>
            <a:ext cx="4064000" cy="518160"/>
          </a:xfrm>
          <a:prstGeom prst="rect">
            <a:avLst/>
          </a:prstGeom>
          <a:noFill/>
        </p:spPr>
        <p:txBody>
          <a:bodyPr wrap="square" rtlCol="0">
            <a:noAutofit/>
          </a:bodyPr>
          <a:p>
            <a:r>
              <a:rPr lang="en-US"/>
              <a:t>                </a:t>
            </a:r>
            <a:r>
              <a:rPr lang="en-US" sz="2800" b="1">
                <a:solidFill>
                  <a:schemeClr val="bg1"/>
                </a:solidFill>
              </a:rPr>
              <a:t>Introduction</a:t>
            </a:r>
            <a:endParaRPr lang="en-US" sz="2800" b="1">
              <a:solidFill>
                <a:schemeClr val="bg1"/>
              </a:solidFill>
            </a:endParaRPr>
          </a:p>
        </p:txBody>
      </p:sp>
      <p:sp>
        <p:nvSpPr>
          <p:cNvPr id="9" name="Text Box 8"/>
          <p:cNvSpPr txBox="1"/>
          <p:nvPr/>
        </p:nvSpPr>
        <p:spPr>
          <a:xfrm>
            <a:off x="2716530" y="1082675"/>
            <a:ext cx="8671560" cy="4953000"/>
          </a:xfrm>
          <a:prstGeom prst="rect">
            <a:avLst/>
          </a:prstGeom>
          <a:noFill/>
        </p:spPr>
        <p:txBody>
          <a:bodyPr wrap="square" rtlCol="0">
            <a:noAutofit/>
          </a:bodyPr>
          <a:p>
            <a:pPr algn="just"/>
            <a:r>
              <a:rPr lang="en-US" altLang="en-US" sz="2000" b="1"/>
              <a:t> </a:t>
            </a:r>
            <a:r>
              <a:rPr lang="en-US" altLang="en-US"/>
              <a:t>A process is a program in execution and is one of the fundamental concepts of an operating system. Linux supports multitasking by allowing multiple processes to execute concurrently, sharing system resources such as CPU time, memory, and input/output devices.</a:t>
            </a:r>
            <a:endParaRPr lang="en-US" altLang="en-US"/>
          </a:p>
          <a:p>
            <a:pPr algn="just"/>
            <a:endParaRPr lang="en-US" altLang="en-US"/>
          </a:p>
          <a:p>
            <a:pPr algn="just"/>
            <a:r>
              <a:rPr lang="en-US" altLang="en-US"/>
              <a:t>As the number of running processes increases, monitoring their status and controlling their execution becomes more complicated. Users often rely on command-line utilities such as ps, top, pgrep, and kill. Although these tools are useful, switching between commands can make it difficult to maintain an organized view of related processes and their resource usage.</a:t>
            </a:r>
            <a:endParaRPr lang="en-US" altLang="en-US"/>
          </a:p>
          <a:p>
            <a:pPr algn="just"/>
            <a:endParaRPr lang="en-US" altLang="en-US"/>
          </a:p>
          <a:p>
            <a:pPr algn="just"/>
            <a:r>
              <a:rPr lang="en-US" altLang="en-US"/>
              <a:t>The Multi-Process Task Manager for Linux aims to address this challenge by providing a centralized process-management interface. It is designed to display process information, identify related processes, monitor resource usage, and support appropriate process-control operations.</a:t>
            </a:r>
            <a:endParaRPr lang="en-US" altLang="en-US"/>
          </a:p>
          <a:p>
            <a:pPr algn="just"/>
            <a:endParaRPr lang="en-US" altLang="en-US"/>
          </a:p>
          <a:p>
            <a:pPr algn="just"/>
            <a:r>
              <a:rPr lang="en-US" altLang="en-US"/>
              <a:t>The project combines operating-system concepts with practical system programming to create a more structured and accessible process-management solution.</a:t>
            </a:r>
            <a:endParaRPr lang="en-US"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Rectangle: Rounded Corners 7"/>
          <p:cNvSpPr/>
          <p:nvPr/>
        </p:nvSpPr>
        <p:spPr>
          <a:xfrm>
            <a:off x="3312795" y="221615"/>
            <a:ext cx="6167755" cy="521335"/>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Box 3"/>
          <p:cNvSpPr txBox="1"/>
          <p:nvPr/>
        </p:nvSpPr>
        <p:spPr>
          <a:xfrm>
            <a:off x="3312795" y="220980"/>
            <a:ext cx="6167755" cy="521970"/>
          </a:xfrm>
          <a:prstGeom prst="rect">
            <a:avLst/>
          </a:prstGeom>
          <a:noFill/>
        </p:spPr>
        <p:txBody>
          <a:bodyPr wrap="square" rtlCol="0">
            <a:spAutoFit/>
          </a:bodyPr>
          <a:p>
            <a:r>
              <a:rPr lang="en-US" altLang="en-US" sz="2800" b="1">
                <a:solidFill>
                  <a:schemeClr val="bg1"/>
                </a:solidFill>
              </a:rPr>
              <a:t>Problem Statement and Objectives</a:t>
            </a:r>
            <a:endParaRPr lang="en-US" altLang="en-US" sz="2800" b="1">
              <a:solidFill>
                <a:schemeClr val="bg1"/>
              </a:solidFill>
            </a:endParaRPr>
          </a:p>
        </p:txBody>
      </p:sp>
      <p:sp>
        <p:nvSpPr>
          <p:cNvPr id="5" name="Text Box 4"/>
          <p:cNvSpPr txBox="1"/>
          <p:nvPr/>
        </p:nvSpPr>
        <p:spPr>
          <a:xfrm>
            <a:off x="2838450" y="1157605"/>
            <a:ext cx="8465185" cy="2614930"/>
          </a:xfrm>
          <a:prstGeom prst="rect">
            <a:avLst/>
          </a:prstGeom>
        </p:spPr>
        <p:txBody>
          <a:bodyPr wrap="square">
            <a:spAutoFit/>
          </a:bodyPr>
          <a:p>
            <a:r>
              <a:rPr sz="2000" b="1"/>
              <a:t>Problem Statement</a:t>
            </a:r>
            <a:r>
              <a:rPr lang="en-US" sz="2000" b="1"/>
              <a:t>:</a:t>
            </a:r>
            <a:endParaRPr lang="en-US" sz="2000" b="1"/>
          </a:p>
          <a:p>
            <a:r>
              <a:rPr lang="en-US" altLang="en-US"/>
              <a:t>Linux provides several command-line utilities for monitoring and controlling processes. However, managing multiple related processes can require several commands and repeated manual checks.Users may find it difficult to identify parent-child relationships, compare resource consumption, locate specific processes, and control the correct process without affecting unrelated applications.Therefore, a centralized and organized solution is needed to simplify process inspection, resource monitoring, and process control while maintaining appropriate permission checks and safegraurds.</a:t>
            </a:r>
            <a:endParaRPr lang="en-US" altLang="en-US" sz="2000" b="1"/>
          </a:p>
        </p:txBody>
      </p:sp>
      <p:sp>
        <p:nvSpPr>
          <p:cNvPr id="2" name="Text Box 1"/>
          <p:cNvSpPr txBox="1"/>
          <p:nvPr/>
        </p:nvSpPr>
        <p:spPr>
          <a:xfrm>
            <a:off x="2838450" y="3854450"/>
            <a:ext cx="9030970" cy="2614930"/>
          </a:xfrm>
          <a:prstGeom prst="rect">
            <a:avLst/>
          </a:prstGeom>
          <a:noFill/>
        </p:spPr>
        <p:txBody>
          <a:bodyPr wrap="square" rtlCol="0">
            <a:spAutoFit/>
          </a:bodyPr>
          <a:p>
            <a:r>
              <a:rPr lang="en-US" altLang="en-US" sz="2000" b="1"/>
              <a:t>Objectives</a:t>
            </a:r>
            <a:endParaRPr lang="en-US" altLang="en-US" sz="2000" b="1"/>
          </a:p>
          <a:p>
            <a:pPr marL="285750" indent="-285750">
              <a:buFont typeface="Arial" panose="020B0704020202020204" pitchFamily="34" charset="0"/>
              <a:buChar char="•"/>
            </a:pPr>
            <a:r>
              <a:rPr lang="en-US" altLang="en-US"/>
              <a:t>Develop a centralized interface for managing multiple Linux processes.</a:t>
            </a:r>
            <a:endParaRPr lang="en-US" altLang="en-US"/>
          </a:p>
          <a:p>
            <a:pPr marL="285750" indent="-285750">
              <a:buFont typeface="Arial" panose="020B0704020202020204" pitchFamily="34" charset="0"/>
              <a:buChar char="•"/>
            </a:pPr>
            <a:r>
              <a:rPr lang="en-US" altLang="en-US"/>
              <a:t>Display essential process details, including PID, process name, state, and parent PID.</a:t>
            </a:r>
            <a:endParaRPr lang="en-US" altLang="en-US"/>
          </a:p>
          <a:p>
            <a:pPr marL="285750" indent="-285750">
              <a:buFont typeface="Arial" panose="020B0704020202020204" pitchFamily="34" charset="0"/>
              <a:buChar char="•"/>
            </a:pPr>
            <a:r>
              <a:rPr lang="en-US" altLang="en-US"/>
              <a:t>Enable users to search for processes by name or process ID.</a:t>
            </a:r>
            <a:endParaRPr lang="en-US" altLang="en-US"/>
          </a:p>
          <a:p>
            <a:pPr marL="285750" indent="-285750">
              <a:buFont typeface="Arial" panose="020B0704020202020204" pitchFamily="34" charset="0"/>
              <a:buChar char="•"/>
            </a:pPr>
            <a:r>
              <a:rPr lang="en-US" altLang="en-US"/>
              <a:t>Monitor CPU and memory usage where supported by the implementation.</a:t>
            </a:r>
            <a:endParaRPr lang="en-US" altLang="en-US"/>
          </a:p>
          <a:p>
            <a:pPr marL="285750" indent="-285750">
              <a:buFont typeface="Arial" panose="020B0704020202020204" pitchFamily="34" charset="0"/>
              <a:buChar char="•"/>
            </a:pPr>
            <a:r>
              <a:rPr lang="en-US" altLang="en-US"/>
              <a:t>Represent parent-child process relationships in a structured process tree.</a:t>
            </a:r>
            <a:endParaRPr lang="en-US" altLang="en-US"/>
          </a:p>
          <a:p>
            <a:pPr marL="285750" indent="-285750">
              <a:buFont typeface="Arial" panose="020B0704020202020204" pitchFamily="34" charset="0"/>
              <a:buChar char="•"/>
            </a:pPr>
            <a:r>
              <a:rPr lang="en-US" altLang="en-US"/>
              <a:t>Support appropriate process-control operations with permission checks.</a:t>
            </a:r>
            <a:endParaRPr lang="en-US" altLang="en-US"/>
          </a:p>
          <a:p>
            <a:pPr marL="285750" indent="-285750">
              <a:buFont typeface="Arial" panose="020B0704020202020204" pitchFamily="34" charset="0"/>
              <a:buChar char="•"/>
            </a:pPr>
            <a:r>
              <a:rPr lang="en-US" altLang="en-US"/>
              <a:t>Reduce the need to switch between multiple command-line utilities.</a:t>
            </a:r>
            <a:endParaRPr lang="en-US"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010535" y="221615"/>
            <a:ext cx="7021195" cy="517525"/>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Box 3"/>
          <p:cNvSpPr txBox="1"/>
          <p:nvPr/>
        </p:nvSpPr>
        <p:spPr>
          <a:xfrm>
            <a:off x="3206115" y="221615"/>
            <a:ext cx="6824980" cy="518160"/>
          </a:xfrm>
          <a:prstGeom prst="rect">
            <a:avLst/>
          </a:prstGeom>
          <a:noFill/>
        </p:spPr>
        <p:txBody>
          <a:bodyPr wrap="square" rtlCol="0">
            <a:noAutofit/>
          </a:bodyPr>
          <a:p>
            <a:r>
              <a:rPr lang="en-US" altLang="en-US" sz="2800" b="1" dirty="0">
                <a:solidFill>
                  <a:schemeClr val="bg1"/>
                </a:solidFill>
                <a:sym typeface="+mn-ea"/>
              </a:rPr>
              <a:t>Hardware and </a:t>
            </a:r>
            <a:r>
              <a:rPr lang="en-US" altLang="en-US" sz="2800" b="1">
                <a:solidFill>
                  <a:schemeClr val="bg1"/>
                </a:solidFill>
              </a:rPr>
              <a:t>Software Requirements</a:t>
            </a:r>
            <a:endParaRPr lang="en-US" altLang="en-US" sz="2800" b="1">
              <a:solidFill>
                <a:schemeClr val="bg1"/>
              </a:solidFill>
            </a:endParaRPr>
          </a:p>
        </p:txBody>
      </p:sp>
      <p:sp>
        <p:nvSpPr>
          <p:cNvPr id="5" name="Text Box 4"/>
          <p:cNvSpPr txBox="1"/>
          <p:nvPr/>
        </p:nvSpPr>
        <p:spPr>
          <a:xfrm>
            <a:off x="3010535" y="4225290"/>
            <a:ext cx="8749030" cy="2496820"/>
          </a:xfrm>
          <a:prstGeom prst="rect">
            <a:avLst/>
          </a:prstGeom>
          <a:noFill/>
        </p:spPr>
        <p:txBody>
          <a:bodyPr wrap="square" rtlCol="0">
            <a:noAutofit/>
          </a:bodyPr>
          <a:p>
            <a:pPr algn="just"/>
            <a:r>
              <a:rPr lang="en-US" altLang="en-US" sz="1600" b="1"/>
              <a:t>Operating System:</a:t>
            </a:r>
            <a:r>
              <a:rPr lang="en-US" altLang="en-US" sz="1600"/>
              <a:t> Ubuntu Linux or another compatible Linux distribution</a:t>
            </a:r>
            <a:endParaRPr lang="en-US" altLang="en-US" sz="1600"/>
          </a:p>
          <a:p>
            <a:pPr algn="just"/>
            <a:r>
              <a:rPr lang="en-US" altLang="en-US" sz="1600" b="1"/>
              <a:t>Programming Language: </a:t>
            </a:r>
            <a:r>
              <a:rPr lang="en-US" altLang="en-US" sz="1600"/>
              <a:t>C, C++, or Python, depending on the implementation</a:t>
            </a:r>
            <a:endParaRPr lang="en-US" altLang="en-US" sz="1600"/>
          </a:p>
          <a:p>
            <a:pPr algn="just"/>
            <a:r>
              <a:rPr lang="en-US" altLang="en-US" sz="1600" b="1"/>
              <a:t>Development Environment:</a:t>
            </a:r>
            <a:r>
              <a:rPr lang="en-US" altLang="en-US" sz="1600"/>
              <a:t> Visual Studio Code or another suitable code editor</a:t>
            </a:r>
            <a:endParaRPr lang="en-US" altLang="en-US" sz="1600"/>
          </a:p>
          <a:p>
            <a:pPr algn="just"/>
            <a:r>
              <a:rPr lang="en-US" altLang="en-US" sz="1600" b="1"/>
              <a:t>Compiler/Runtime: </a:t>
            </a:r>
            <a:r>
              <a:rPr lang="en-US" altLang="en-US" sz="1600"/>
              <a:t>GCC or Clang for C/C++; Python 3 for Python</a:t>
            </a:r>
            <a:endParaRPr lang="en-US" altLang="en-US" sz="1600"/>
          </a:p>
          <a:p>
            <a:pPr algn="just"/>
            <a:r>
              <a:rPr lang="en-US" altLang="en-US" sz="1600" b="1"/>
              <a:t>System Interface: </a:t>
            </a:r>
            <a:r>
              <a:rPr lang="en-US" altLang="en-US" sz="1600"/>
              <a:t>Linux /proc filesystem for retrieving process information</a:t>
            </a:r>
            <a:endParaRPr lang="en-US" altLang="en-US" sz="1600"/>
          </a:p>
          <a:p>
            <a:pPr algn="just"/>
            <a:r>
              <a:rPr lang="en-US" altLang="en-US" sz="1600" b="1"/>
              <a:t>Terminal: </a:t>
            </a:r>
            <a:r>
              <a:rPr lang="en-US" altLang="en-US" sz="1600"/>
              <a:t>Linux command-line terminal for execution and testing</a:t>
            </a:r>
            <a:endParaRPr lang="en-US" altLang="en-US" sz="1600"/>
          </a:p>
          <a:p>
            <a:pPr algn="just"/>
            <a:r>
              <a:rPr lang="en-US" altLang="en-US" sz="1600" b="1"/>
              <a:t>Version Control (Optional): </a:t>
            </a:r>
            <a:r>
              <a:rPr lang="en-US" altLang="en-US" sz="1600"/>
              <a:t>Git and GitHub for source-code management</a:t>
            </a:r>
            <a:endParaRPr lang="en-US" altLang="en-US" sz="1600"/>
          </a:p>
        </p:txBody>
      </p:sp>
      <p:sp>
        <p:nvSpPr>
          <p:cNvPr id="3" name="Text Box 2"/>
          <p:cNvSpPr txBox="1"/>
          <p:nvPr/>
        </p:nvSpPr>
        <p:spPr>
          <a:xfrm>
            <a:off x="3010535" y="1504950"/>
            <a:ext cx="4770120" cy="2245995"/>
          </a:xfrm>
          <a:prstGeom prst="rect">
            <a:avLst/>
          </a:prstGeom>
          <a:noFill/>
        </p:spPr>
        <p:txBody>
          <a:bodyPr wrap="square" rtlCol="0">
            <a:noAutofit/>
          </a:bodyPr>
          <a:p>
            <a:pPr marL="285750" indent="-285750" algn="just">
              <a:buFont typeface="Arial" panose="020B0704020202020204" pitchFamily="34" charset="0"/>
              <a:buChar char="•"/>
            </a:pPr>
            <a:r>
              <a:rPr lang="en-US" altLang="en-US" sz="1600" b="1"/>
              <a:t>Processor:</a:t>
            </a:r>
            <a:r>
              <a:rPr lang="en-US" altLang="en-US" sz="1600"/>
              <a:t> Intel Core i3 or equivalent</a:t>
            </a:r>
            <a:endParaRPr lang="en-US" altLang="en-US" sz="1600"/>
          </a:p>
          <a:p>
            <a:pPr marL="285750" indent="-285750" algn="just">
              <a:buFont typeface="Arial" panose="020B0704020202020204" pitchFamily="34" charset="0"/>
              <a:buChar char="•"/>
            </a:pPr>
            <a:r>
              <a:rPr lang="en-US" altLang="en-US" sz="1600" b="1"/>
              <a:t>RAM:</a:t>
            </a:r>
            <a:r>
              <a:rPr lang="en-US" altLang="en-US" sz="1600"/>
              <a:t> 4 GB</a:t>
            </a:r>
            <a:endParaRPr lang="en-US" altLang="en-US" sz="1600"/>
          </a:p>
          <a:p>
            <a:pPr marL="285750" indent="-285750" algn="just">
              <a:buFont typeface="Arial" panose="020B0704020202020204" pitchFamily="34" charset="0"/>
              <a:buChar char="•"/>
            </a:pPr>
            <a:r>
              <a:rPr lang="en-US" altLang="en-US" sz="1600" b="1"/>
              <a:t>Storage:</a:t>
            </a:r>
            <a:r>
              <a:rPr lang="en-US" altLang="en-US" sz="1600"/>
              <a:t> 2 GB of free disk space</a:t>
            </a:r>
            <a:endParaRPr lang="en-US" altLang="en-US" sz="1600"/>
          </a:p>
          <a:p>
            <a:pPr marL="285750" indent="-285750" algn="just">
              <a:buFont typeface="Arial" panose="020B0704020202020204" pitchFamily="34" charset="0"/>
              <a:buChar char="•"/>
            </a:pPr>
            <a:r>
              <a:rPr lang="en-US" altLang="en-US" sz="1600" b="1"/>
              <a:t>System: </a:t>
            </a:r>
            <a:r>
              <a:rPr lang="en-US" altLang="en-US" sz="1600"/>
              <a:t>Desktop computer or laptop</a:t>
            </a:r>
            <a:endParaRPr lang="en-US" altLang="en-US" sz="1600"/>
          </a:p>
          <a:p>
            <a:pPr marL="285750" indent="-285750" algn="just">
              <a:buFont typeface="Arial" panose="020B0704020202020204" pitchFamily="34" charset="0"/>
              <a:buChar char="•"/>
            </a:pPr>
            <a:r>
              <a:rPr lang="en-US" altLang="en-US" sz="1600" b="1"/>
              <a:t>Processor:</a:t>
            </a:r>
            <a:r>
              <a:rPr lang="en-US" altLang="en-US" sz="1600"/>
              <a:t> Intel Core i5 or equivalent</a:t>
            </a:r>
            <a:endParaRPr lang="en-US" altLang="en-US" sz="1600"/>
          </a:p>
          <a:p>
            <a:pPr marL="285750" indent="-285750" algn="just">
              <a:buFont typeface="Arial" panose="020B0704020202020204" pitchFamily="34" charset="0"/>
              <a:buChar char="•"/>
            </a:pPr>
            <a:r>
              <a:rPr lang="en-US" altLang="en-US" sz="1600" b="1"/>
              <a:t>RAM:</a:t>
            </a:r>
            <a:r>
              <a:rPr lang="en-US" altLang="en-US" sz="1600"/>
              <a:t> 8 GB or higher</a:t>
            </a:r>
            <a:endParaRPr lang="en-US" altLang="en-US" sz="1600"/>
          </a:p>
          <a:p>
            <a:pPr marL="285750" indent="-285750" algn="just">
              <a:buFont typeface="Arial" panose="020B0704020202020204" pitchFamily="34" charset="0"/>
              <a:buChar char="•"/>
            </a:pPr>
            <a:r>
              <a:rPr lang="en-US" altLang="en-US" sz="1600" b="1"/>
              <a:t>Storage:</a:t>
            </a:r>
            <a:r>
              <a:rPr lang="en-US" altLang="en-US" sz="1600"/>
              <a:t> 5 GB of free disk space</a:t>
            </a:r>
            <a:endParaRPr lang="en-US" altLang="en-US" sz="1600"/>
          </a:p>
          <a:p>
            <a:pPr marL="285750" indent="-285750" algn="just">
              <a:buFont typeface="Arial" panose="020B0704020202020204" pitchFamily="34" charset="0"/>
              <a:buChar char="•"/>
            </a:pPr>
            <a:r>
              <a:rPr lang="en-US" altLang="en-US" sz="1600" b="1"/>
              <a:t>System: </a:t>
            </a:r>
            <a:r>
              <a:rPr lang="en-US" altLang="en-US" sz="1600"/>
              <a:t>64-bit computer capable of running Linux</a:t>
            </a:r>
            <a:endParaRPr lang="en-US" sz="1600"/>
          </a:p>
        </p:txBody>
      </p:sp>
      <p:sp>
        <p:nvSpPr>
          <p:cNvPr id="6" name="Text Box 5"/>
          <p:cNvSpPr txBox="1"/>
          <p:nvPr/>
        </p:nvSpPr>
        <p:spPr>
          <a:xfrm>
            <a:off x="3010535" y="1106170"/>
            <a:ext cx="4064000" cy="398780"/>
          </a:xfrm>
          <a:prstGeom prst="rect">
            <a:avLst/>
          </a:prstGeom>
          <a:noFill/>
        </p:spPr>
        <p:txBody>
          <a:bodyPr wrap="square" rtlCol="0">
            <a:spAutoFit/>
          </a:bodyPr>
          <a:p>
            <a:r>
              <a:rPr lang="en-US" altLang="en-US" sz="2000" b="1" dirty="0">
                <a:solidFill>
                  <a:schemeClr val="tx1"/>
                </a:solidFill>
                <a:sym typeface="+mn-ea"/>
              </a:rPr>
              <a:t>Hardware</a:t>
            </a:r>
            <a:r>
              <a:rPr lang="en-US" altLang="en-US" b="1" dirty="0">
                <a:solidFill>
                  <a:schemeClr val="tx1"/>
                </a:solidFill>
                <a:sym typeface="+mn-ea"/>
              </a:rPr>
              <a:t> :</a:t>
            </a:r>
            <a:endParaRPr lang="en-US" altLang="en-US" b="1" dirty="0">
              <a:solidFill>
                <a:schemeClr val="tx1"/>
              </a:solidFill>
              <a:sym typeface="+mn-ea"/>
            </a:endParaRPr>
          </a:p>
        </p:txBody>
      </p:sp>
      <p:sp>
        <p:nvSpPr>
          <p:cNvPr id="7" name="Text Box 6"/>
          <p:cNvSpPr txBox="1"/>
          <p:nvPr/>
        </p:nvSpPr>
        <p:spPr>
          <a:xfrm>
            <a:off x="3010535" y="3826510"/>
            <a:ext cx="4064000" cy="398780"/>
          </a:xfrm>
          <a:prstGeom prst="rect">
            <a:avLst/>
          </a:prstGeom>
          <a:noFill/>
        </p:spPr>
        <p:txBody>
          <a:bodyPr wrap="square" rtlCol="0">
            <a:spAutoFit/>
          </a:bodyPr>
          <a:p>
            <a:r>
              <a:rPr lang="en-US" altLang="en-US" sz="2000" b="1">
                <a:solidFill>
                  <a:schemeClr val="tx1"/>
                </a:solidFill>
                <a:sym typeface="+mn-ea"/>
              </a:rPr>
              <a:t>Software :</a:t>
            </a:r>
            <a:endParaRPr lang="en-US" altLang="en-US" sz="2000" b="1">
              <a:solidFill>
                <a:schemeClr val="tx1"/>
              </a:solidFill>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547840" y="302403"/>
            <a:ext cx="6871855" cy="521970"/>
          </a:xfrm>
          <a:prstGeom prst="rect">
            <a:avLst/>
          </a:prstGeom>
          <a:noFill/>
        </p:spPr>
        <p:txBody>
          <a:bodyPr wrap="square" rtlCol="0">
            <a:spAutoFit/>
          </a:bodyPr>
          <a:lstStyle/>
          <a:p>
            <a:pPr algn="ctr"/>
            <a:r>
              <a:rPr lang="en-US" sz="2800" b="1" kern="0" dirty="0">
                <a:solidFill>
                  <a:schemeClr val="bg1"/>
                </a:solidFill>
                <a:effectLst/>
                <a:ea typeface="Times New Roman" panose="02020603050405020304" pitchFamily="18" charset="0"/>
              </a:rPr>
              <a:t> System Architecture</a:t>
            </a:r>
            <a:endParaRPr lang="en-US" sz="2800" b="1" dirty="0">
              <a:solidFill>
                <a:schemeClr val="bg1"/>
              </a:solidFill>
            </a:endParaRPr>
          </a:p>
        </p:txBody>
      </p:sp>
      <p:pic>
        <p:nvPicPr>
          <p:cNvPr id="5" name="Picture 4" descr="Linux Multi-Process Task Manager Architecture"/>
          <p:cNvPicPr>
            <a:picLocks noChangeAspect="1"/>
          </p:cNvPicPr>
          <p:nvPr/>
        </p:nvPicPr>
        <p:blipFill>
          <a:blip r:embed="rId1"/>
          <a:stretch>
            <a:fillRect/>
          </a:stretch>
        </p:blipFill>
        <p:spPr>
          <a:xfrm>
            <a:off x="2843530" y="1217930"/>
            <a:ext cx="8280400" cy="46609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Rounded Corners 1"/>
          <p:cNvSpPr/>
          <p:nvPr/>
        </p:nvSpPr>
        <p:spPr>
          <a:xfrm>
            <a:off x="3225800" y="221615"/>
            <a:ext cx="5494020" cy="517525"/>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Box 2"/>
          <p:cNvSpPr txBox="1"/>
          <p:nvPr/>
        </p:nvSpPr>
        <p:spPr>
          <a:xfrm>
            <a:off x="3639820" y="216853"/>
            <a:ext cx="5080000" cy="521970"/>
          </a:xfrm>
          <a:prstGeom prst="rect">
            <a:avLst/>
          </a:prstGeom>
        </p:spPr>
        <p:txBody>
          <a:bodyPr>
            <a:spAutoFit/>
          </a:bodyPr>
          <a:p>
            <a:r>
              <a:rPr sz="2800" b="1">
                <a:solidFill>
                  <a:schemeClr val="bg1"/>
                </a:solidFill>
              </a:rPr>
              <a:t>Modules and Key Features</a:t>
            </a:r>
            <a:endParaRPr sz="2800" b="1">
              <a:solidFill>
                <a:schemeClr val="bg1"/>
              </a:solidFill>
            </a:endParaRPr>
          </a:p>
        </p:txBody>
      </p:sp>
      <p:sp>
        <p:nvSpPr>
          <p:cNvPr id="4" name="Text Box 3"/>
          <p:cNvSpPr txBox="1"/>
          <p:nvPr/>
        </p:nvSpPr>
        <p:spPr>
          <a:xfrm>
            <a:off x="2827655" y="1174115"/>
            <a:ext cx="8430895" cy="5507990"/>
          </a:xfrm>
          <a:prstGeom prst="rect">
            <a:avLst/>
          </a:prstGeom>
        </p:spPr>
        <p:txBody>
          <a:bodyPr wrap="square">
            <a:spAutoFit/>
          </a:bodyPr>
          <a:p>
            <a:pPr algn="just"/>
            <a:r>
              <a:rPr lang="en-US" altLang="en-US" sz="1600" b="1"/>
              <a:t>1. Process Discovery Module</a:t>
            </a:r>
            <a:endParaRPr lang="en-US" altLang="en-US" sz="1600" b="1"/>
          </a:p>
          <a:p>
            <a:pPr algn="just"/>
            <a:r>
              <a:rPr lang="en-US" altLang="en-US" sz="1600"/>
              <a:t>Identifies running processes in the Linux system.</a:t>
            </a:r>
            <a:endParaRPr lang="en-US" altLang="en-US" sz="1600"/>
          </a:p>
          <a:p>
            <a:pPr algn="just"/>
            <a:r>
              <a:rPr lang="en-US" altLang="en-US" sz="1600"/>
              <a:t>Retrieves PID, PPID, process name, and state.</a:t>
            </a:r>
            <a:endParaRPr lang="en-US" altLang="en-US" sz="1600"/>
          </a:p>
          <a:p>
            <a:pPr algn="just"/>
            <a:endParaRPr lang="en-US" altLang="en-US" sz="1600"/>
          </a:p>
          <a:p>
            <a:pPr algn="just"/>
            <a:r>
              <a:rPr lang="en-US" altLang="en-US" sz="1600" b="1"/>
              <a:t>2. Process Search and Filtering Module</a:t>
            </a:r>
            <a:endParaRPr lang="en-US" altLang="en-US" sz="1600" b="1"/>
          </a:p>
          <a:p>
            <a:pPr algn="just"/>
            <a:r>
              <a:rPr lang="en-US" altLang="en-US" sz="1600"/>
              <a:t>Searches processes by PID or process name.</a:t>
            </a:r>
            <a:endParaRPr lang="en-US" altLang="en-US" sz="1600"/>
          </a:p>
          <a:p>
            <a:pPr algn="just"/>
            <a:r>
              <a:rPr lang="en-US" altLang="en-US" sz="1600"/>
              <a:t>Filters process information for quick identification.</a:t>
            </a:r>
            <a:endParaRPr lang="en-US" altLang="en-US" sz="1600"/>
          </a:p>
          <a:p>
            <a:pPr algn="just"/>
            <a:endParaRPr lang="en-US" altLang="en-US" sz="1600"/>
          </a:p>
          <a:p>
            <a:pPr algn="just"/>
            <a:r>
              <a:rPr lang="en-US" altLang="en-US" sz="1600" b="1"/>
              <a:t>3. Process Monitoring Module</a:t>
            </a:r>
            <a:endParaRPr lang="en-US" altLang="en-US" sz="1600" b="1"/>
          </a:p>
          <a:p>
            <a:pPr algn="just"/>
            <a:r>
              <a:rPr lang="en-US" altLang="en-US" sz="1600"/>
              <a:t>Displays available CPU and memory usage.</a:t>
            </a:r>
            <a:endParaRPr lang="en-US" altLang="en-US" sz="1600"/>
          </a:p>
          <a:p>
            <a:pPr algn="just"/>
            <a:r>
              <a:rPr lang="en-US" altLang="en-US" sz="1600"/>
              <a:t>Tracks process states and parent-child relationships.</a:t>
            </a:r>
            <a:endParaRPr lang="en-US" altLang="en-US" sz="1600"/>
          </a:p>
          <a:p>
            <a:pPr algn="just"/>
            <a:endParaRPr lang="en-US" altLang="en-US" sz="1600"/>
          </a:p>
          <a:p>
            <a:pPr algn="just"/>
            <a:r>
              <a:rPr lang="en-US" altLang="en-US" sz="1600" b="1"/>
              <a:t>4. Process Tree Module</a:t>
            </a:r>
            <a:endParaRPr lang="en-US" altLang="en-US" sz="1600" b="1"/>
          </a:p>
          <a:p>
            <a:pPr algn="just"/>
            <a:r>
              <a:rPr lang="en-US" altLang="en-US" sz="1600"/>
              <a:t>Organizes processes based on parent-child relationships.</a:t>
            </a:r>
            <a:endParaRPr lang="en-US" altLang="en-US" sz="1600"/>
          </a:p>
          <a:p>
            <a:pPr algn="just"/>
            <a:r>
              <a:rPr lang="en-US" altLang="en-US" sz="1600"/>
              <a:t>Provides a structured view of related processes.</a:t>
            </a:r>
            <a:endParaRPr lang="en-US" altLang="en-US" sz="1600"/>
          </a:p>
          <a:p>
            <a:pPr algn="just"/>
            <a:endParaRPr lang="en-US" altLang="en-US" sz="1600"/>
          </a:p>
          <a:p>
            <a:pPr algn="just"/>
            <a:r>
              <a:rPr lang="en-US" altLang="en-US" sz="1600" b="1"/>
              <a:t>5. Process Control Module</a:t>
            </a:r>
            <a:endParaRPr lang="en-US" altLang="en-US" sz="1600" b="1"/>
          </a:p>
          <a:p>
            <a:pPr algn="just"/>
            <a:r>
              <a:rPr lang="en-US" altLang="en-US" sz="1600"/>
              <a:t>Supports process creation and execution using fork() and exec(), where implemented.</a:t>
            </a:r>
            <a:endParaRPr lang="en-US" altLang="en-US" sz="1600"/>
          </a:p>
          <a:p>
            <a:pPr algn="just"/>
            <a:r>
              <a:rPr lang="en-US" altLang="en-US" sz="1600"/>
              <a:t>Manages process termination using signals.</a:t>
            </a:r>
            <a:endParaRPr lang="en-US" altLang="en-US" sz="1600"/>
          </a:p>
          <a:p>
            <a:pPr algn="just"/>
            <a:r>
              <a:rPr lang="en-US" altLang="en-US" sz="1600"/>
              <a:t>Supports process synchronization using wait() or waitpid(), where implemented.</a:t>
            </a:r>
            <a:endParaRPr lang="en-US" altLang="en-US" sz="1600"/>
          </a:p>
          <a:p>
            <a:pPr algn="just"/>
            <a:endParaRPr lang="en-US" altLang="en-US" sz="1600"/>
          </a:p>
          <a:p>
            <a:pPr algn="just"/>
            <a:endParaRPr lang="en-US" altLang="en-US" sz="16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Rectangle: Rounded Corners 2"/>
          <p:cNvSpPr/>
          <p:nvPr/>
        </p:nvSpPr>
        <p:spPr>
          <a:xfrm>
            <a:off x="3736340" y="221615"/>
            <a:ext cx="5450840" cy="517525"/>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Box 2"/>
          <p:cNvSpPr txBox="1"/>
          <p:nvPr/>
        </p:nvSpPr>
        <p:spPr>
          <a:xfrm>
            <a:off x="3869690" y="221615"/>
            <a:ext cx="5450840" cy="521970"/>
          </a:xfrm>
          <a:prstGeom prst="rect">
            <a:avLst/>
          </a:prstGeom>
          <a:noFill/>
        </p:spPr>
        <p:txBody>
          <a:bodyPr wrap="square" rtlCol="0">
            <a:spAutoFit/>
          </a:bodyPr>
          <a:p>
            <a:r>
              <a:rPr lang="en-US" altLang="en-US" sz="2800" b="1">
                <a:solidFill>
                  <a:schemeClr val="bg1"/>
                </a:solidFill>
              </a:rPr>
              <a:t>Implementation and Working</a:t>
            </a:r>
            <a:endParaRPr lang="en-US" altLang="en-US" sz="2800" b="1">
              <a:solidFill>
                <a:schemeClr val="bg1"/>
              </a:solidFill>
            </a:endParaRPr>
          </a:p>
        </p:txBody>
      </p:sp>
      <p:sp>
        <p:nvSpPr>
          <p:cNvPr id="4" name="Text Box 3"/>
          <p:cNvSpPr txBox="1"/>
          <p:nvPr/>
        </p:nvSpPr>
        <p:spPr>
          <a:xfrm>
            <a:off x="2880360" y="1029970"/>
            <a:ext cx="8507095" cy="2858770"/>
          </a:xfrm>
          <a:prstGeom prst="rect">
            <a:avLst/>
          </a:prstGeom>
          <a:noFill/>
        </p:spPr>
        <p:txBody>
          <a:bodyPr wrap="square" rtlCol="0">
            <a:noAutofit/>
          </a:bodyPr>
          <a:p>
            <a:r>
              <a:rPr lang="en-US" altLang="en-US" sz="2000" b="1"/>
              <a:t>Implementation:</a:t>
            </a:r>
            <a:endParaRPr lang="en-US" altLang="en-US" sz="2000" b="1"/>
          </a:p>
          <a:p>
            <a:pPr marL="285750" indent="-285750" algn="just">
              <a:buFont typeface="Arial" panose="020B0704020202020204" pitchFamily="34" charset="0"/>
              <a:buChar char="•"/>
            </a:pPr>
            <a:r>
              <a:rPr lang="en-US" altLang="en-US"/>
              <a:t>Command-Line Interface: Accepts user commands to perform supported process-related operations.</a:t>
            </a:r>
            <a:endParaRPr lang="en-US" altLang="en-US"/>
          </a:p>
          <a:p>
            <a:pPr marL="285750" indent="-285750" algn="just">
              <a:buFont typeface="Arial" panose="020B0704020202020204" pitchFamily="34" charset="0"/>
              <a:buChar char="•"/>
            </a:pPr>
            <a:r>
              <a:rPr lang="en-US" altLang="en-US"/>
              <a:t>Command Processing: Reads and validates user input.</a:t>
            </a:r>
            <a:endParaRPr lang="en-US" altLang="en-US"/>
          </a:p>
          <a:p>
            <a:pPr marL="285750" indent="-285750" algn="just">
              <a:buFont typeface="Arial" panose="020B0704020202020204" pitchFamily="34" charset="0"/>
              <a:buChar char="•"/>
            </a:pPr>
            <a:r>
              <a:rPr lang="en-US" altLang="en-US"/>
              <a:t>Process Information: Retrieves available process details, such as PID, PPID, and process state.</a:t>
            </a:r>
            <a:endParaRPr lang="en-US" altLang="en-US"/>
          </a:p>
          <a:p>
            <a:pPr marL="285750" indent="-285750" algn="just">
              <a:buFont typeface="Arial" panose="020B0704020202020204" pitchFamily="34" charset="0"/>
              <a:buChar char="•"/>
            </a:pPr>
            <a:r>
              <a:rPr lang="en-US" altLang="en-US"/>
              <a:t>Linux Interface: Uses relevant Linux interfaces, such as /proc and system calls, where implemented.</a:t>
            </a:r>
            <a:endParaRPr lang="en-US" altLang="en-US"/>
          </a:p>
          <a:p>
            <a:pPr marL="285750" indent="-285750" algn="just">
              <a:buFont typeface="Arial" panose="020B0704020202020204" pitchFamily="34" charset="0"/>
              <a:buChar char="•"/>
            </a:pPr>
            <a:r>
              <a:rPr lang="en-US" altLang="en-US"/>
              <a:t>Output Generation: Displays process information and operation status in a readable format.</a:t>
            </a:r>
            <a:endParaRPr lang="en-US" altLang="en-US"/>
          </a:p>
        </p:txBody>
      </p:sp>
      <p:sp>
        <p:nvSpPr>
          <p:cNvPr id="5" name="Text Box 4"/>
          <p:cNvSpPr txBox="1"/>
          <p:nvPr/>
        </p:nvSpPr>
        <p:spPr>
          <a:xfrm>
            <a:off x="2880360" y="3888740"/>
            <a:ext cx="8507095" cy="2693670"/>
          </a:xfrm>
          <a:prstGeom prst="rect">
            <a:avLst/>
          </a:prstGeom>
          <a:noFill/>
        </p:spPr>
        <p:txBody>
          <a:bodyPr wrap="square" rtlCol="0">
            <a:noAutofit/>
          </a:bodyPr>
          <a:p>
            <a:r>
              <a:rPr lang="en-US" altLang="en-US" sz="2000" b="1"/>
              <a:t>Working Process:</a:t>
            </a:r>
            <a:endParaRPr lang="en-US" altLang="en-US" sz="2000" b="1"/>
          </a:p>
          <a:p>
            <a:pPr algn="just"/>
            <a:r>
              <a:rPr lang="en-US" altLang="en-US"/>
              <a:t>1. User Input</a:t>
            </a:r>
            <a:endParaRPr lang="en-US" altLang="en-US"/>
          </a:p>
          <a:p>
            <a:pPr algn="just"/>
            <a:endParaRPr lang="en-US" altLang="en-US"/>
          </a:p>
          <a:p>
            <a:pPr algn="just"/>
            <a:r>
              <a:rPr lang="en-US" altLang="en-US"/>
              <a:t>2. Input validation</a:t>
            </a:r>
            <a:endParaRPr lang="en-US" altLang="en-US"/>
          </a:p>
          <a:p>
            <a:pPr algn="just"/>
            <a:endParaRPr lang="en-US" altLang="en-US"/>
          </a:p>
          <a:p>
            <a:pPr algn="just"/>
            <a:r>
              <a:rPr lang="en-US" altLang="en-US"/>
              <a:t>3. Linux process information or operations are accessed</a:t>
            </a:r>
            <a:endParaRPr lang="en-US" altLang="en-US"/>
          </a:p>
          <a:p>
            <a:pPr algn="just"/>
            <a:endParaRPr lang="en-US" altLang="en-US"/>
          </a:p>
          <a:p>
            <a:pPr algn="just"/>
            <a:r>
              <a:rPr lang="en-US" altLang="en-US"/>
              <a:t>4. Requested operation is performed</a:t>
            </a:r>
            <a:endParaRPr lang="en-US" altLang="en-US"/>
          </a:p>
          <a:p>
            <a:pPr algn="just"/>
            <a:endParaRPr lang="en-US" altLang="en-US"/>
          </a:p>
          <a:p>
            <a:pPr algn="just"/>
            <a:r>
              <a:rPr lang="en-US" altLang="en-US"/>
              <a:t>5. Results are displayed to the user</a:t>
            </a:r>
            <a:endParaRPr lang="en-US" altLang="en-US"/>
          </a:p>
        </p:txBody>
      </p:sp>
      <p:cxnSp>
        <p:nvCxnSpPr>
          <p:cNvPr id="6" name="Straight Arrow Connector 5"/>
          <p:cNvCxnSpPr/>
          <p:nvPr/>
        </p:nvCxnSpPr>
        <p:spPr>
          <a:xfrm>
            <a:off x="4349115" y="4580255"/>
            <a:ext cx="0" cy="212090"/>
          </a:xfrm>
          <a:prstGeom prst="straightConnector1">
            <a:avLst/>
          </a:prstGeom>
          <a:ln>
            <a:solidFill>
              <a:schemeClr val="tx1"/>
            </a:solidFill>
            <a:tailEnd type="arrow" w="med" len="med"/>
          </a:ln>
        </p:spPr>
        <p:style>
          <a:lnRef idx="3">
            <a:schemeClr val="accent1"/>
          </a:lnRef>
          <a:fillRef idx="0">
            <a:srgbClr val="FFFFFF"/>
          </a:fillRef>
          <a:effectRef idx="0">
            <a:srgbClr val="FFFFFF"/>
          </a:effectRef>
          <a:fontRef idx="minor">
            <a:schemeClr val="tx1"/>
          </a:fontRef>
        </p:style>
      </p:cxnSp>
      <p:cxnSp>
        <p:nvCxnSpPr>
          <p:cNvPr id="8" name="Straight Arrow Connector 7"/>
          <p:cNvCxnSpPr/>
          <p:nvPr/>
        </p:nvCxnSpPr>
        <p:spPr>
          <a:xfrm>
            <a:off x="4349115" y="5129530"/>
            <a:ext cx="0" cy="212090"/>
          </a:xfrm>
          <a:prstGeom prst="straightConnector1">
            <a:avLst/>
          </a:prstGeom>
          <a:ln>
            <a:solidFill>
              <a:schemeClr val="tx1"/>
            </a:solidFill>
            <a:tailEnd type="arrow" w="med" len="med"/>
          </a:ln>
        </p:spPr>
        <p:style>
          <a:lnRef idx="3">
            <a:schemeClr val="accent1"/>
          </a:lnRef>
          <a:fillRef idx="0">
            <a:srgbClr val="FFFFFF"/>
          </a:fillRef>
          <a:effectRef idx="0">
            <a:srgbClr val="FFFFFF"/>
          </a:effectRef>
          <a:fontRef idx="minor">
            <a:schemeClr val="tx1"/>
          </a:fontRef>
        </p:style>
      </p:cxnSp>
      <p:cxnSp>
        <p:nvCxnSpPr>
          <p:cNvPr id="9" name="Straight Arrow Connector 8"/>
          <p:cNvCxnSpPr/>
          <p:nvPr/>
        </p:nvCxnSpPr>
        <p:spPr>
          <a:xfrm>
            <a:off x="4349115" y="5678805"/>
            <a:ext cx="0" cy="212090"/>
          </a:xfrm>
          <a:prstGeom prst="straightConnector1">
            <a:avLst/>
          </a:prstGeom>
          <a:ln>
            <a:solidFill>
              <a:schemeClr val="tx1"/>
            </a:solidFill>
            <a:tailEnd type="arrow" w="med" len="med"/>
          </a:ln>
        </p:spPr>
        <p:style>
          <a:lnRef idx="3">
            <a:schemeClr val="accent1"/>
          </a:lnRef>
          <a:fillRef idx="0">
            <a:srgbClr val="FFFFFF"/>
          </a:fillRef>
          <a:effectRef idx="0">
            <a:srgbClr val="FFFFFF"/>
          </a:effectRef>
          <a:fontRef idx="minor">
            <a:schemeClr val="tx1"/>
          </a:fontRef>
        </p:style>
      </p:cxnSp>
      <p:cxnSp>
        <p:nvCxnSpPr>
          <p:cNvPr id="10" name="Straight Arrow Connector 9"/>
          <p:cNvCxnSpPr/>
          <p:nvPr/>
        </p:nvCxnSpPr>
        <p:spPr>
          <a:xfrm>
            <a:off x="4349115" y="6200140"/>
            <a:ext cx="0" cy="212090"/>
          </a:xfrm>
          <a:prstGeom prst="straightConnector1">
            <a:avLst/>
          </a:prstGeom>
          <a:ln>
            <a:solidFill>
              <a:schemeClr val="tx1"/>
            </a:solidFill>
            <a:tailEnd type="arrow" w="med" len="med"/>
          </a:ln>
        </p:spPr>
        <p:style>
          <a:lnRef idx="3">
            <a:schemeClr val="accent1"/>
          </a:lnRef>
          <a:fillRef idx="0">
            <a:srgbClr val="FFFFFF"/>
          </a:fillRef>
          <a:effectRef idx="0">
            <a:srgbClr val="FFFFFF"/>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Rectangle: Rounded Corners 2"/>
          <p:cNvSpPr/>
          <p:nvPr/>
        </p:nvSpPr>
        <p:spPr>
          <a:xfrm>
            <a:off x="3736340" y="221615"/>
            <a:ext cx="5450840" cy="517525"/>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Box 2"/>
          <p:cNvSpPr txBox="1"/>
          <p:nvPr/>
        </p:nvSpPr>
        <p:spPr>
          <a:xfrm>
            <a:off x="3972560" y="217170"/>
            <a:ext cx="5214620" cy="521970"/>
          </a:xfrm>
          <a:prstGeom prst="rect">
            <a:avLst/>
          </a:prstGeom>
          <a:noFill/>
        </p:spPr>
        <p:txBody>
          <a:bodyPr wrap="square" rtlCol="0">
            <a:spAutoFit/>
          </a:bodyPr>
          <a:p>
            <a:r>
              <a:rPr lang="en-US" altLang="en-US" sz="2800" b="1">
                <a:solidFill>
                  <a:schemeClr val="bg1"/>
                </a:solidFill>
              </a:rPr>
              <a:t>Sample Output Screenshots</a:t>
            </a:r>
            <a:endParaRPr lang="en-US" altLang="en-US" sz="2800" b="1">
              <a:solidFill>
                <a:schemeClr val="bg1"/>
              </a:solidFill>
            </a:endParaRPr>
          </a:p>
        </p:txBody>
      </p:sp>
      <p:pic>
        <p:nvPicPr>
          <p:cNvPr id="4" name="Picture 3" descr="photo_6237577207689712933_w"/>
          <p:cNvPicPr>
            <a:picLocks noChangeAspect="1"/>
          </p:cNvPicPr>
          <p:nvPr/>
        </p:nvPicPr>
        <p:blipFill>
          <a:blip r:embed="rId1"/>
          <a:stretch>
            <a:fillRect/>
          </a:stretch>
        </p:blipFill>
        <p:spPr>
          <a:xfrm>
            <a:off x="681990" y="975995"/>
            <a:ext cx="4867910" cy="3044825"/>
          </a:xfrm>
          <a:prstGeom prst="rect">
            <a:avLst/>
          </a:prstGeom>
        </p:spPr>
      </p:pic>
      <p:pic>
        <p:nvPicPr>
          <p:cNvPr id="5" name="Picture 4" descr="photo_6237577207689712936_w"/>
          <p:cNvPicPr>
            <a:picLocks noChangeAspect="1"/>
          </p:cNvPicPr>
          <p:nvPr/>
        </p:nvPicPr>
        <p:blipFill>
          <a:blip r:embed="rId2"/>
          <a:stretch>
            <a:fillRect/>
          </a:stretch>
        </p:blipFill>
        <p:spPr>
          <a:xfrm>
            <a:off x="5713730" y="1000125"/>
            <a:ext cx="5761355" cy="3044825"/>
          </a:xfrm>
          <a:prstGeom prst="rect">
            <a:avLst/>
          </a:prstGeom>
        </p:spPr>
      </p:pic>
      <p:pic>
        <p:nvPicPr>
          <p:cNvPr id="6" name="Picture 5" descr="photo_6237577207689712937_y"/>
          <p:cNvPicPr>
            <a:picLocks noChangeAspect="1"/>
          </p:cNvPicPr>
          <p:nvPr/>
        </p:nvPicPr>
        <p:blipFill>
          <a:blip r:embed="rId3"/>
          <a:stretch>
            <a:fillRect/>
          </a:stretch>
        </p:blipFill>
        <p:spPr>
          <a:xfrm>
            <a:off x="1210945" y="4257675"/>
            <a:ext cx="9627870" cy="228219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Rectangle: Rounded Corners 1"/>
          <p:cNvSpPr/>
          <p:nvPr/>
        </p:nvSpPr>
        <p:spPr>
          <a:xfrm>
            <a:off x="4064000" y="226060"/>
            <a:ext cx="4064000" cy="517525"/>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Box 3"/>
          <p:cNvSpPr txBox="1"/>
          <p:nvPr/>
        </p:nvSpPr>
        <p:spPr>
          <a:xfrm>
            <a:off x="4345940" y="221615"/>
            <a:ext cx="4064000" cy="521970"/>
          </a:xfrm>
          <a:prstGeom prst="rect">
            <a:avLst/>
          </a:prstGeom>
          <a:noFill/>
        </p:spPr>
        <p:txBody>
          <a:bodyPr wrap="square" rtlCol="0">
            <a:spAutoFit/>
          </a:bodyPr>
          <a:p>
            <a:r>
              <a:rPr lang="en-US" altLang="en-US" sz="2800" b="1">
                <a:solidFill>
                  <a:schemeClr val="bg1"/>
                </a:solidFill>
              </a:rPr>
              <a:t>Testing and Results</a:t>
            </a:r>
            <a:endParaRPr lang="en-US" altLang="en-US" sz="2800" b="1">
              <a:solidFill>
                <a:schemeClr val="bg1"/>
              </a:solidFill>
            </a:endParaRPr>
          </a:p>
        </p:txBody>
      </p:sp>
      <p:sp>
        <p:nvSpPr>
          <p:cNvPr id="5" name="Text Box 4"/>
          <p:cNvSpPr txBox="1"/>
          <p:nvPr/>
        </p:nvSpPr>
        <p:spPr>
          <a:xfrm>
            <a:off x="2870835" y="1006475"/>
            <a:ext cx="8460105" cy="2875915"/>
          </a:xfrm>
          <a:prstGeom prst="rect">
            <a:avLst/>
          </a:prstGeom>
          <a:noFill/>
        </p:spPr>
        <p:txBody>
          <a:bodyPr wrap="square" rtlCol="0">
            <a:noAutofit/>
          </a:bodyPr>
          <a:p>
            <a:r>
              <a:rPr lang="en-US" altLang="en-US" sz="2000" b="1"/>
              <a:t>Testing:</a:t>
            </a:r>
            <a:endParaRPr lang="en-US" altLang="en-US" sz="2000" b="1"/>
          </a:p>
          <a:p>
            <a:pPr marL="285750" indent="-285750" algn="just">
              <a:buFont typeface="Arial" panose="020B0704020202020204" pitchFamily="34" charset="0"/>
              <a:buChar char="•"/>
            </a:pPr>
            <a:r>
              <a:rPr lang="en-US" altLang="en-US" b="1"/>
              <a:t>Process Identification: </a:t>
            </a:r>
            <a:r>
              <a:rPr lang="en-US" altLang="en-US"/>
              <a:t>Verify that process IDs (PID) and parent process IDs (PPID) are displayed correctly.</a:t>
            </a:r>
            <a:endParaRPr lang="en-US" altLang="en-US"/>
          </a:p>
          <a:p>
            <a:pPr marL="285750" indent="-285750" algn="just">
              <a:buFont typeface="Arial" panose="020B0704020202020204" pitchFamily="34" charset="0"/>
              <a:buChar char="•"/>
            </a:pPr>
            <a:r>
              <a:rPr lang="en-US" altLang="en-US" b="1"/>
              <a:t>Process Monitoring: </a:t>
            </a:r>
            <a:r>
              <a:rPr lang="en-US" altLang="en-US"/>
              <a:t>Check whether process information and states are retrieved correctly.</a:t>
            </a:r>
            <a:endParaRPr lang="en-US" altLang="en-US"/>
          </a:p>
          <a:p>
            <a:pPr marL="285750" indent="-285750" algn="just">
              <a:buFont typeface="Arial" panose="020B0704020202020204" pitchFamily="34" charset="0"/>
              <a:buChar char="•"/>
            </a:pPr>
            <a:r>
              <a:rPr lang="en-US" altLang="en-US" b="1"/>
              <a:t>Process Creation:</a:t>
            </a:r>
            <a:r>
              <a:rPr lang="en-US" altLang="en-US"/>
              <a:t> Verify process creation and parent–child relationships.</a:t>
            </a:r>
            <a:endParaRPr lang="en-US" altLang="en-US"/>
          </a:p>
          <a:p>
            <a:pPr marL="285750" indent="-285750" algn="just">
              <a:buFont typeface="Arial" panose="020B0704020202020204" pitchFamily="34" charset="0"/>
              <a:buChar char="•"/>
            </a:pPr>
            <a:r>
              <a:rPr lang="en-US" altLang="en-US" b="1"/>
              <a:t>Process Control:</a:t>
            </a:r>
            <a:r>
              <a:rPr lang="en-US" altLang="en-US"/>
              <a:t> Test supported process-control operations and signal handling.</a:t>
            </a:r>
            <a:endParaRPr lang="en-US" altLang="en-US"/>
          </a:p>
          <a:p>
            <a:pPr marL="285750" indent="-285750" algn="just">
              <a:buFont typeface="Arial" panose="020B0704020202020204" pitchFamily="34" charset="0"/>
              <a:buChar char="•"/>
            </a:pPr>
            <a:r>
              <a:rPr lang="en-US" altLang="en-US" b="1"/>
              <a:t>Input Validation:</a:t>
            </a:r>
            <a:r>
              <a:rPr lang="en-US" altLang="en-US"/>
              <a:t> Check how the system handles invalid commands and incorrect inputs.</a:t>
            </a:r>
            <a:endParaRPr lang="en-US" altLang="en-US"/>
          </a:p>
          <a:p>
            <a:pPr marL="285750" indent="-285750" algn="just">
              <a:buFont typeface="Arial" panose="020B0704020202020204" pitchFamily="34" charset="0"/>
              <a:buChar char="•"/>
            </a:pPr>
            <a:endParaRPr lang="en-US"/>
          </a:p>
        </p:txBody>
      </p:sp>
      <p:sp>
        <p:nvSpPr>
          <p:cNvPr id="6" name="Text Box 5"/>
          <p:cNvSpPr txBox="1"/>
          <p:nvPr/>
        </p:nvSpPr>
        <p:spPr>
          <a:xfrm>
            <a:off x="2871470" y="3980815"/>
            <a:ext cx="8719820" cy="2328545"/>
          </a:xfrm>
          <a:prstGeom prst="rect">
            <a:avLst/>
          </a:prstGeom>
          <a:noFill/>
        </p:spPr>
        <p:txBody>
          <a:bodyPr wrap="square" rtlCol="0">
            <a:noAutofit/>
          </a:bodyPr>
          <a:p>
            <a:r>
              <a:rPr lang="en-US" altLang="en-US" sz="2000" b="1"/>
              <a:t>Results:</a:t>
            </a:r>
            <a:endParaRPr lang="en-US" altLang="en-US" sz="2000" b="1"/>
          </a:p>
          <a:p>
            <a:pPr marL="285750" indent="-285750" algn="just">
              <a:buFont typeface="Arial" panose="020B0704020202020204" pitchFamily="34" charset="0"/>
              <a:buChar char="•"/>
            </a:pPr>
            <a:r>
              <a:rPr lang="en-US" altLang="en-US"/>
              <a:t>The system is designed to display relevant process information through a command-line interface.</a:t>
            </a:r>
            <a:endParaRPr lang="en-US" altLang="en-US"/>
          </a:p>
          <a:p>
            <a:pPr marL="285750" indent="-285750" algn="just">
              <a:buFont typeface="Arial" panose="020B0704020202020204" pitchFamily="34" charset="0"/>
              <a:buChar char="•"/>
            </a:pPr>
            <a:r>
              <a:rPr lang="en-US" altLang="en-US"/>
              <a:t>Process-related operations can be observed through their output and status messages.</a:t>
            </a:r>
            <a:endParaRPr lang="en-US" altLang="en-US"/>
          </a:p>
          <a:p>
            <a:pPr marL="285750" indent="-285750" algn="just">
              <a:buFont typeface="Arial" panose="020B0704020202020204" pitchFamily="34" charset="0"/>
              <a:buChar char="•"/>
            </a:pPr>
            <a:r>
              <a:rPr lang="en-US" altLang="en-US"/>
              <a:t>Testing helps identify incorrect inputs and potential process-management errors.</a:t>
            </a:r>
            <a:endParaRPr lang="en-US" altLang="en-US"/>
          </a:p>
          <a:p>
            <a:pPr marL="285750" indent="-285750" algn="just">
              <a:buFont typeface="Arial" panose="020B0704020202020204" pitchFamily="34" charset="0"/>
              <a:buChar char="•"/>
            </a:pPr>
            <a:r>
              <a:rPr lang="en-US" altLang="en-US"/>
              <a:t>The project supports practical learning of Linux process-management concepts.</a:t>
            </a:r>
            <a:endParaRPr lang="en-US"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Rectangle: Rounded Corners 1"/>
          <p:cNvSpPr/>
          <p:nvPr/>
        </p:nvSpPr>
        <p:spPr>
          <a:xfrm>
            <a:off x="4495165" y="226060"/>
            <a:ext cx="3201670" cy="517525"/>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Box 3"/>
          <p:cNvSpPr txBox="1"/>
          <p:nvPr/>
        </p:nvSpPr>
        <p:spPr>
          <a:xfrm>
            <a:off x="4864100" y="221615"/>
            <a:ext cx="4064000" cy="521970"/>
          </a:xfrm>
          <a:prstGeom prst="rect">
            <a:avLst/>
          </a:prstGeom>
          <a:noFill/>
        </p:spPr>
        <p:txBody>
          <a:bodyPr wrap="square" rtlCol="0">
            <a:spAutoFit/>
          </a:bodyPr>
          <a:p>
            <a:r>
              <a:rPr lang="en-US" altLang="en-US" sz="2800" b="1">
                <a:solidFill>
                  <a:schemeClr val="bg1"/>
                </a:solidFill>
              </a:rPr>
              <a:t>Future Scope</a:t>
            </a:r>
            <a:endParaRPr lang="en-US" altLang="en-US" sz="2800" b="1">
              <a:solidFill>
                <a:schemeClr val="bg1"/>
              </a:solidFill>
            </a:endParaRPr>
          </a:p>
        </p:txBody>
      </p:sp>
      <p:sp>
        <p:nvSpPr>
          <p:cNvPr id="5" name="Text Box 4"/>
          <p:cNvSpPr txBox="1"/>
          <p:nvPr/>
        </p:nvSpPr>
        <p:spPr>
          <a:xfrm>
            <a:off x="2691130" y="1125855"/>
            <a:ext cx="9184005" cy="5477510"/>
          </a:xfrm>
          <a:prstGeom prst="rect">
            <a:avLst/>
          </a:prstGeom>
          <a:noFill/>
        </p:spPr>
        <p:txBody>
          <a:bodyPr wrap="square" rtlCol="0">
            <a:noAutofit/>
          </a:bodyPr>
          <a:p>
            <a:pPr marL="285750" indent="-285750" algn="just">
              <a:buFont typeface="Arial" panose="020B0704020202020204" pitchFamily="34" charset="0"/>
              <a:buChar char="•"/>
            </a:pPr>
            <a:r>
              <a:rPr lang="en-US" altLang="en-US" b="1"/>
              <a:t>Real-Time Monitoring: </a:t>
            </a:r>
            <a:r>
              <a:rPr lang="en-US" altLang="en-US"/>
              <a:t>Display continuously updated process information.</a:t>
            </a:r>
            <a:endParaRPr lang="en-US" altLang="en-US"/>
          </a:p>
          <a:p>
            <a:pPr marL="285750" indent="-285750" algn="just">
              <a:buFont typeface="Arial" panose="020B0704020202020204" pitchFamily="34" charset="0"/>
              <a:buChar char="•"/>
            </a:pPr>
            <a:endParaRPr lang="en-US" altLang="en-US"/>
          </a:p>
          <a:p>
            <a:pPr marL="285750" indent="-285750" algn="just">
              <a:buFont typeface="Arial" panose="020B0704020202020204" pitchFamily="34" charset="0"/>
              <a:buChar char="•"/>
            </a:pPr>
            <a:r>
              <a:rPr lang="en-US" altLang="en-US" b="1"/>
              <a:t>Graphical User Interface:</a:t>
            </a:r>
            <a:r>
              <a:rPr lang="en-US" altLang="en-US"/>
              <a:t> Develop a user-friendly dashboard for process management.</a:t>
            </a:r>
            <a:endParaRPr lang="en-US" altLang="en-US"/>
          </a:p>
          <a:p>
            <a:pPr marL="285750" indent="-285750" algn="just">
              <a:buFont typeface="Arial" panose="020B0704020202020204" pitchFamily="34" charset="0"/>
              <a:buChar char="•"/>
            </a:pPr>
            <a:endParaRPr lang="en-US" altLang="en-US"/>
          </a:p>
          <a:p>
            <a:pPr marL="285750" indent="-285750" algn="just">
              <a:buFont typeface="Arial" panose="020B0704020202020204" pitchFamily="34" charset="0"/>
              <a:buChar char="•"/>
            </a:pPr>
            <a:r>
              <a:rPr lang="en-US" altLang="en-US" b="1"/>
              <a:t>Resource Tracking:</a:t>
            </a:r>
            <a:r>
              <a:rPr lang="en-US" altLang="en-US"/>
              <a:t> Monitor CPU and memory usage of individual processes.</a:t>
            </a:r>
            <a:endParaRPr lang="en-US" altLang="en-US"/>
          </a:p>
          <a:p>
            <a:pPr marL="285750" indent="-285750" algn="just">
              <a:buFont typeface="Arial" panose="020B0704020202020204" pitchFamily="34" charset="0"/>
              <a:buChar char="•"/>
            </a:pPr>
            <a:endParaRPr lang="en-US" altLang="en-US"/>
          </a:p>
          <a:p>
            <a:pPr marL="285750" indent="-285750" algn="just">
              <a:buFont typeface="Arial" panose="020B0704020202020204" pitchFamily="34" charset="0"/>
              <a:buChar char="•"/>
            </a:pPr>
            <a:r>
              <a:rPr lang="en-US" altLang="en-US" b="1"/>
              <a:t>Advanced Process Control:</a:t>
            </a:r>
            <a:r>
              <a:rPr lang="en-US" altLang="en-US"/>
              <a:t> Add process-priority management and safer control operations.</a:t>
            </a:r>
            <a:endParaRPr lang="en-US" altLang="en-US"/>
          </a:p>
          <a:p>
            <a:pPr marL="285750" indent="-285750" algn="just">
              <a:buFont typeface="Arial" panose="020B0704020202020204" pitchFamily="34" charset="0"/>
              <a:buChar char="•"/>
            </a:pPr>
            <a:endParaRPr lang="en-US" altLang="en-US"/>
          </a:p>
          <a:p>
            <a:pPr marL="285750" indent="-285750" algn="just">
              <a:buFont typeface="Arial" panose="020B0704020202020204" pitchFamily="34" charset="0"/>
              <a:buChar char="•"/>
            </a:pPr>
            <a:r>
              <a:rPr lang="en-US" altLang="en-US" b="1"/>
              <a:t>Data Visualization: </a:t>
            </a:r>
            <a:r>
              <a:rPr lang="en-US" altLang="en-US"/>
              <a:t>Display process statistics through charts and reports.</a:t>
            </a:r>
            <a:endParaRPr lang="en-US" altLang="en-US"/>
          </a:p>
          <a:p>
            <a:pPr marL="285750" indent="-285750" algn="just">
              <a:buFont typeface="Arial" panose="020B0704020202020204" pitchFamily="34" charset="0"/>
              <a:buChar char="•"/>
            </a:pPr>
            <a:endParaRPr lang="en-US" altLang="en-US"/>
          </a:p>
          <a:p>
            <a:pPr marL="285750" indent="-285750" algn="just">
              <a:buFont typeface="Arial" panose="020B0704020202020204" pitchFamily="34" charset="0"/>
              <a:buChar char="•"/>
            </a:pPr>
            <a:r>
              <a:rPr lang="en-US" altLang="en-US" b="1"/>
              <a:t>Alerts and Logging:</a:t>
            </a:r>
            <a:r>
              <a:rPr lang="en-US" altLang="en-US"/>
              <a:t> Record process events and notify users about unusual activity.</a:t>
            </a:r>
            <a:endParaRPr lang="en-US" altLang="en-US"/>
          </a:p>
          <a:p>
            <a:pPr marL="285750" indent="-285750" algn="just">
              <a:buFont typeface="Arial" panose="020B0704020202020204" pitchFamily="34" charset="0"/>
              <a:buChar char="•"/>
            </a:pPr>
            <a:endParaRPr lang="en-US" altLang="en-US"/>
          </a:p>
          <a:p>
            <a:pPr marL="285750" indent="-285750" algn="just">
              <a:buFont typeface="Arial" panose="020B0704020202020204" pitchFamily="34" charset="0"/>
              <a:buChar char="•"/>
            </a:pPr>
            <a:r>
              <a:rPr lang="en-US" altLang="en-US" b="1"/>
              <a:t>CPU and Memory Analytics:</a:t>
            </a:r>
            <a:r>
              <a:rPr lang="en-US" altLang="en-US"/>
              <a:t> Track resource consumption and identify resource-intensive processes.</a:t>
            </a:r>
            <a:endParaRPr lang="en-US"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Rectangle: Rounded Corners 1"/>
          <p:cNvSpPr/>
          <p:nvPr/>
        </p:nvSpPr>
        <p:spPr>
          <a:xfrm>
            <a:off x="4577715" y="226060"/>
            <a:ext cx="3201670" cy="517525"/>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Box 3"/>
          <p:cNvSpPr txBox="1"/>
          <p:nvPr/>
        </p:nvSpPr>
        <p:spPr>
          <a:xfrm>
            <a:off x="5102225" y="221615"/>
            <a:ext cx="2489200" cy="521970"/>
          </a:xfrm>
          <a:prstGeom prst="rect">
            <a:avLst/>
          </a:prstGeom>
          <a:noFill/>
        </p:spPr>
        <p:txBody>
          <a:bodyPr wrap="square" rtlCol="0">
            <a:spAutoFit/>
          </a:bodyPr>
          <a:p>
            <a:r>
              <a:rPr lang="en-US" altLang="en-US" sz="2800" b="1">
                <a:solidFill>
                  <a:schemeClr val="bg1"/>
                </a:solidFill>
              </a:rPr>
              <a:t>Conclusion</a:t>
            </a:r>
            <a:endParaRPr lang="en-US" altLang="en-US" sz="2800" b="1">
              <a:solidFill>
                <a:schemeClr val="bg1"/>
              </a:solidFill>
            </a:endParaRPr>
          </a:p>
        </p:txBody>
      </p:sp>
      <p:sp>
        <p:nvSpPr>
          <p:cNvPr id="5" name="Text Box 4"/>
          <p:cNvSpPr txBox="1"/>
          <p:nvPr/>
        </p:nvSpPr>
        <p:spPr>
          <a:xfrm>
            <a:off x="2856230" y="1182370"/>
            <a:ext cx="8401685" cy="5431155"/>
          </a:xfrm>
          <a:prstGeom prst="rect">
            <a:avLst/>
          </a:prstGeom>
          <a:noFill/>
        </p:spPr>
        <p:txBody>
          <a:bodyPr wrap="square" rtlCol="0">
            <a:noAutofit/>
          </a:bodyPr>
          <a:p>
            <a:pPr marL="285750" indent="-285750" algn="just">
              <a:buFont typeface="Arial" panose="020B0704020202020204" pitchFamily="34" charset="0"/>
              <a:buChar char="•"/>
            </a:pPr>
            <a:r>
              <a:rPr lang="en-US" altLang="en-US"/>
              <a:t>The project demonstrates Linux process monitoring and control mechanisms.</a:t>
            </a:r>
            <a:endParaRPr lang="en-US" altLang="en-US"/>
          </a:p>
          <a:p>
            <a:pPr marL="285750" indent="-285750" algn="just">
              <a:buFont typeface="Arial" panose="020B0704020202020204" pitchFamily="34" charset="0"/>
              <a:buChar char="•"/>
            </a:pPr>
            <a:endParaRPr lang="en-US" altLang="en-US"/>
          </a:p>
          <a:p>
            <a:pPr marL="285750" indent="-285750" algn="just">
              <a:buFont typeface="Arial" panose="020B0704020202020204" pitchFamily="34" charset="0"/>
              <a:buChar char="•"/>
            </a:pPr>
            <a:r>
              <a:rPr lang="en-US" altLang="en-US"/>
              <a:t>It explains key operating-system concepts, including PID, PPID, process states, and parent-child relationships.</a:t>
            </a:r>
            <a:endParaRPr lang="en-US" altLang="en-US"/>
          </a:p>
          <a:p>
            <a:pPr marL="285750" indent="-285750" algn="just">
              <a:buFont typeface="Arial" panose="020B0704020202020204" pitchFamily="34" charset="0"/>
              <a:buChar char="•"/>
            </a:pPr>
            <a:endParaRPr lang="en-US" altLang="en-US"/>
          </a:p>
          <a:p>
            <a:pPr marL="285750" indent="-285750" algn="just">
              <a:buFont typeface="Arial" panose="020B0704020202020204" pitchFamily="34" charset="0"/>
              <a:buChar char="•"/>
            </a:pPr>
            <a:r>
              <a:rPr lang="en-US" altLang="en-US"/>
              <a:t>It provides practical exposure to Linux system calls and process-management techniques.</a:t>
            </a:r>
            <a:endParaRPr lang="en-US" altLang="en-US"/>
          </a:p>
          <a:p>
            <a:pPr marL="285750" indent="-285750" algn="just">
              <a:buFont typeface="Arial" panose="020B0704020202020204" pitchFamily="34" charset="0"/>
              <a:buChar char="•"/>
            </a:pPr>
            <a:endParaRPr lang="en-US" altLang="en-US"/>
          </a:p>
          <a:p>
            <a:pPr marL="285750" indent="-285750" algn="just">
              <a:buFont typeface="Arial" panose="020B0704020202020204" pitchFamily="34" charset="0"/>
              <a:buChar char="•"/>
            </a:pPr>
            <a:r>
              <a:rPr lang="en-US" altLang="en-US"/>
              <a:t>It bridges the gap between theoretical operating-system concepts and practical implementation.</a:t>
            </a:r>
            <a:endParaRPr lang="en-US" altLang="en-US"/>
          </a:p>
          <a:p>
            <a:pPr marL="285750" indent="-285750" algn="just">
              <a:buFont typeface="Arial" panose="020B0704020202020204" pitchFamily="34" charset="0"/>
              <a:buChar char="•"/>
            </a:pPr>
            <a:endParaRPr lang="en-US" altLang="en-US"/>
          </a:p>
          <a:p>
            <a:pPr marL="285750" indent="-285750" algn="just">
              <a:buFont typeface="Arial" panose="020B0704020202020204" pitchFamily="34" charset="0"/>
              <a:buChar char="•"/>
            </a:pPr>
            <a:r>
              <a:rPr lang="en-US" altLang="en-US"/>
              <a:t>It establishes a foundation for exploring advanced process management and synchronization techniques.</a:t>
            </a:r>
            <a:endParaRPr lang="en-US"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smtClean="0"/>
              <a:t>Thank you</a:t>
            </a:r>
            <a:endParaRPr lang="en-US" sz="3200" b="1"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8043</Words>
  <Application>WPS Presentation</Application>
  <PresentationFormat>Widescreen</PresentationFormat>
  <Paragraphs>177</Paragraphs>
  <Slides>14</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14</vt:i4>
      </vt:variant>
    </vt:vector>
  </HeadingPairs>
  <TitlesOfParts>
    <vt:vector size="28" baseType="lpstr">
      <vt:lpstr>Arial</vt:lpstr>
      <vt:lpstr>SimSun</vt:lpstr>
      <vt:lpstr>Wingdings</vt:lpstr>
      <vt:lpstr>Times New Roman</vt:lpstr>
      <vt:lpstr>Gautami</vt:lpstr>
      <vt:lpstr>Arial Unicode MS</vt:lpstr>
      <vt:lpstr>Calibri</vt:lpstr>
      <vt:lpstr>Helvetica Neue</vt:lpstr>
      <vt:lpstr>Arial</vt:lpstr>
      <vt:lpstr>Microsoft YaHei</vt:lpstr>
      <vt:lpstr>汉仪旗黑</vt:lpstr>
      <vt:lpstr>Calibri Light</vt:lpstr>
      <vt:lpstr>宋体-简</vt:lpstr>
      <vt:lpstr>Office Theme</vt:lpstr>
      <vt:lpstr>       Operating system and system programming (25CS2104E)  Linux Process Monitoring and Control System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Kalvaamrutha</cp:lastModifiedBy>
  <cp:revision>30</cp:revision>
  <dcterms:created xsi:type="dcterms:W3CDTF">2026-10-17T06:05:08Z</dcterms:created>
  <dcterms:modified xsi:type="dcterms:W3CDTF">2026-10-17T06:05:08Z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37A403BC01A07ED51410D36AC4D2D9C6_43</vt:lpwstr>
  </property>
  <property fmtid="{D5CDD505-2E9C-101B-9397-08002B2CF9AE}" pid="3" name="KSOProductBuildVer">
    <vt:lpwstr>1033-12.1.28496.28496</vt:lpwstr>
  </property>
</Properties>
</file>